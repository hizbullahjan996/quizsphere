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2727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 and introduce yourself and your team. State the project title: QuizSphere, an AI-powered adaptive learning platform, developed as your Final Year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explain that QuizSphere combines AI quiz generation, adaptive learning, concept mastery, personalized practice, gamification, analytics, and an AI Learning Coach into one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problems with traditional/online learning today: one-size-fits-all content, hidden weak concepts, manual quiz creation, limited personalization, weak analytics, and low motivation.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solution flow: a student uses QuizSphere, the AI analyzes their performance, and the system delivers personalized learning that improves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the project's objectives — these are the concrete goals your system was built to achieve, and will map to features you show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ten key features as a quick visual tour. Don't explain each in depth here — deeper explanations come in later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architecture: student traffic flows from the frontend to the FastAPI backend, which calls AI services and reads/writes to Supabase/PostgreSQL, with storage and analytics underneath. Point out the core components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a quiz is generated: starting from a topic or material, AI processes and generates questions, they're validated, then delivered as a quiz; the student's attempt feeds back into performance analysis. Mention your AI model/fallback setup [NEEDS INPUT].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adaptive learning works: each quiz attempt is analyzed to build a concept mastery profile, weak concepts are flagged, and personalized practice is recommended — point to the mastery bars as an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gamification loop: completing quizzes earns XP, which drives levels, achievements, and leaderboard rank — this is designed to keep students motivated.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AI Learning Coach: it looks at a student's performance, weak concepts, and progress, and gives personalized guidance and explanations, shown here as an example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certificate feature: once a student meets the mastery/eligibility criteria, a certificate with a unique ID and QR code is generated automatically, and can be verified publicly by scanning the QR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security mechanisms used: Row Level Security in Supabase, server-side grading, CSRF protection, rate limiting, UUID validation, output escaping, and keeping API keys off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your testing results: mention the number of automated tests and end-to-end checks that passed, and the areas of the system covered by testing (auth, quizzes, certificates, adaptive practice, gamification, AI coach, security).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how QuizSphere brings together AI, adaptive learning, analytics, and gamification, mention possible future improvements, then thank the audience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4114800" cy="4114800"/>
          </a:xfrm>
          <a:prstGeom prst="ellipse">
            <a:avLst/>
          </a:prstGeom>
          <a:solidFill>
            <a:srgbClr val="4F46E5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2A266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91440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LEARNING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3716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QuizSphere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Adaptive Learning Platform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063240"/>
            <a:ext cx="2926080" cy="0"/>
          </a:xfrm>
          <a:prstGeom prst="line">
            <a:avLst/>
          </a:prstGeom>
          <a:noFill/>
          <a:ln w="19050">
            <a:solidFill>
              <a:srgbClr val="3A35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362102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HIZB ULLAH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22960" y="3621023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41696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LISTED MEMBER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91840" y="413308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SYED ABDULLAH SHAH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960" y="4681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MEMBER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91840" y="464515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FAREED ULLAH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960" y="5193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91840" y="515721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chemeClr val="bg1"/>
                </a:solidFill>
              </a:rPr>
              <a:t>Alibaba Cloud AI Hackathon Pakistan 2026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732520" y="1051560"/>
            <a:ext cx="3108960" cy="47548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/>
          <a:effectLst>
            <a:outerShdw blurRad="228600" dist="762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61120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Quiz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698480" y="125272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EEEBFC"/>
          </a:solidFill>
          <a:ln/>
        </p:spPr>
      </p:sp>
      <p:sp>
        <p:nvSpPr>
          <p:cNvPr id="20" name="Text 18"/>
          <p:cNvSpPr/>
          <p:nvPr/>
        </p:nvSpPr>
        <p:spPr>
          <a:xfrm>
            <a:off x="10698480" y="12527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61120" y="1673352"/>
            <a:ext cx="2651760" cy="91440"/>
          </a:xfrm>
          <a:prstGeom prst="roundRect">
            <a:avLst>
              <a:gd name="adj" fmla="val 50000"/>
            </a:avLst>
          </a:prstGeom>
          <a:solidFill>
            <a:srgbClr val="E4E2F5"/>
          </a:solidFill>
          <a:ln/>
        </p:spPr>
      </p:sp>
      <p:sp>
        <p:nvSpPr>
          <p:cNvPr id="22" name="Shape 20"/>
          <p:cNvSpPr/>
          <p:nvPr/>
        </p:nvSpPr>
        <p:spPr>
          <a:xfrm>
            <a:off x="8961120" y="1673352"/>
            <a:ext cx="1591056" cy="914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of 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2148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component is the “brain” of the computer?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61120" y="2743200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FAFAFE"/>
          </a:solidFill>
          <a:ln w="12700">
            <a:solidFill>
              <a:srgbClr val="E4E2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0" y="27432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RAM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961120" y="3291840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EEEBFC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0" y="32918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CPU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961120" y="3840480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FAFAFE"/>
          </a:solidFill>
          <a:ln w="12700">
            <a:solidFill>
              <a:srgbClr val="E4E2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0" y="38404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Hard Drive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961120" y="4389120"/>
            <a:ext cx="2651760" cy="438912"/>
          </a:xfrm>
          <a:prstGeom prst="roundRect">
            <a:avLst>
              <a:gd name="adj" fmla="val 16667"/>
            </a:avLst>
          </a:prstGeom>
          <a:solidFill>
            <a:srgbClr val="FAFAFE"/>
          </a:solidFill>
          <a:ln w="12700">
            <a:solidFill>
              <a:srgbClr val="E4E2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0" y="43891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GPU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QuizSphere  |  AI-Powered Adaptive Learning Platform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EEB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QuizSphere?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adaptive learning platform that personalizes how students learn, practice, and master concepts.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6118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E2F5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743200"/>
            <a:ext cx="384048" cy="384048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20954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Quiz Generation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350215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any topic or PDF into a quiz instantly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6552" y="2514600"/>
            <a:ext cx="36118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E2F5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45152" y="2743200"/>
            <a:ext cx="384048" cy="384048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13" name="Text 11"/>
          <p:cNvSpPr/>
          <p:nvPr/>
        </p:nvSpPr>
        <p:spPr>
          <a:xfrm>
            <a:off x="4645152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45152" y="320954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45152" y="350215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adjusts to the learner in real time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84464" y="2514600"/>
            <a:ext cx="36118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E2F5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13064" y="2743200"/>
            <a:ext cx="384048" cy="384048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18" name="Text 16"/>
          <p:cNvSpPr/>
          <p:nvPr/>
        </p:nvSpPr>
        <p:spPr>
          <a:xfrm>
            <a:off x="8513064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13064" y="320954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Mastery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513064" y="350215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understanding at the concept level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187952"/>
            <a:ext cx="36118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E2F5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4416552"/>
            <a:ext cx="384048" cy="384048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88289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Practice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77240" y="517550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each student's weak areas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16552" y="4187952"/>
            <a:ext cx="36118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E2F5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45152" y="4416552"/>
            <a:ext cx="384048" cy="384048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28" name="Text 26"/>
          <p:cNvSpPr/>
          <p:nvPr/>
        </p:nvSpPr>
        <p:spPr>
          <a:xfrm>
            <a:off x="4645152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45152" y="488289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645152" y="517550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streaks, levels and leaderboards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284464" y="4187952"/>
            <a:ext cx="36118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E2F5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513064" y="4416552"/>
            <a:ext cx="384048" cy="384048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33" name="Text 31"/>
          <p:cNvSpPr/>
          <p:nvPr/>
        </p:nvSpPr>
        <p:spPr>
          <a:xfrm>
            <a:off x="8513064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513064" y="488289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Analytics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513064" y="517550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visual performance reports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897880"/>
            <a:ext cx="11064240" cy="502920"/>
          </a:xfrm>
          <a:prstGeom prst="roundRect">
            <a:avLst>
              <a:gd name="adj" fmla="val 21818"/>
            </a:avLst>
          </a:prstGeom>
          <a:solidFill>
            <a:srgbClr val="EEEBFC"/>
          </a:solidFill>
          <a:ln w="12700">
            <a:solidFill>
              <a:srgbClr val="EEEB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589788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an AI Learning Coach that guides every student with personalized, step-by-step support.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QuizSphere  |  AI-Powered Adaptive Learning Platform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EEB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Learning Doesn't Adapt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FDF5F4"/>
          </a:solidFill>
          <a:ln w="12700">
            <a:solidFill>
              <a:srgbClr val="F6DFDB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20240"/>
            <a:ext cx="365760" cy="365760"/>
          </a:xfrm>
          <a:prstGeom prst="ellipse">
            <a:avLst/>
          </a:prstGeom>
          <a:solidFill>
            <a:srgbClr val="FBE4E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72491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content and pace for every student, regardless of ability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16552" y="169164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FDF5F4"/>
          </a:solidFill>
          <a:ln w="12700">
            <a:solidFill>
              <a:srgbClr val="F6DFDB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1920240"/>
            <a:ext cx="365760" cy="365760"/>
          </a:xfrm>
          <a:prstGeom prst="ellipse">
            <a:avLst/>
          </a:prstGeom>
          <a:solidFill>
            <a:srgbClr val="FBE4E1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5152" y="2377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weak concepts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45152" y="272491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rarely know exactly what they don't understand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84464" y="169164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FDF5F4"/>
          </a:solidFill>
          <a:ln w="12700">
            <a:solidFill>
              <a:srgbClr val="F6DFDB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13064" y="1920240"/>
            <a:ext cx="365760" cy="365760"/>
          </a:xfrm>
          <a:prstGeom prst="ellipse">
            <a:avLst/>
          </a:prstGeom>
          <a:solidFill>
            <a:srgbClr val="FBE4E1"/>
          </a:solidFill>
          <a:ln/>
        </p:spPr>
      </p:sp>
      <p:sp>
        <p:nvSpPr>
          <p:cNvPr id="17" name="Text 15"/>
          <p:cNvSpPr/>
          <p:nvPr/>
        </p:nvSpPr>
        <p:spPr>
          <a:xfrm>
            <a:off x="8513064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13064" y="2377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quiz creation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13064" y="272491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spend hours writing and grading assessments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639312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FDF5F4"/>
          </a:solidFill>
          <a:ln w="12700">
            <a:solidFill>
              <a:srgbClr val="F6DFDB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867912"/>
            <a:ext cx="365760" cy="365760"/>
          </a:xfrm>
          <a:prstGeom prst="ellipse">
            <a:avLst/>
          </a:prstGeom>
          <a:solidFill>
            <a:srgbClr val="FBE4E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43251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personalized practice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67258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exercises don't target real gaps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16552" y="3639312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FDF5F4"/>
          </a:solidFill>
          <a:ln w="12700">
            <a:solidFill>
              <a:srgbClr val="F6DFDB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45152" y="3867912"/>
            <a:ext cx="365760" cy="365760"/>
          </a:xfrm>
          <a:prstGeom prst="ellipse">
            <a:avLst/>
          </a:prstGeom>
          <a:solidFill>
            <a:srgbClr val="FBE4E1"/>
          </a:solidFill>
          <a:ln/>
        </p:spPr>
      </p:sp>
      <p:sp>
        <p:nvSpPr>
          <p:cNvPr id="27" name="Text 25"/>
          <p:cNvSpPr/>
          <p:nvPr/>
        </p:nvSpPr>
        <p:spPr>
          <a:xfrm>
            <a:off x="4645152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45152" y="43251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learning analytics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45152" y="467258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and mastery are hard to visualize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84464" y="3639312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FDF5F4"/>
          </a:solidFill>
          <a:ln w="12700">
            <a:solidFill>
              <a:srgbClr val="F6DFDB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513064" y="3867912"/>
            <a:ext cx="365760" cy="365760"/>
          </a:xfrm>
          <a:prstGeom prst="ellipse">
            <a:avLst/>
          </a:prstGeom>
          <a:solidFill>
            <a:srgbClr val="FBE4E1"/>
          </a:solidFill>
          <a:ln/>
        </p:spPr>
      </p:sp>
      <p:sp>
        <p:nvSpPr>
          <p:cNvPr id="32" name="Text 30"/>
          <p:cNvSpPr/>
          <p:nvPr/>
        </p:nvSpPr>
        <p:spPr>
          <a:xfrm>
            <a:off x="8513064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513064" y="43251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motivation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513064" y="467258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feedback and rewards reduces engagement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6080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417320" y="60807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disengage, weak concepts persist, and outcomes fall below potential.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QuizSphere  |  AI-Powered Adaptive Learning Platform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EEB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QuizSphere Solves This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54380" y="1874520"/>
            <a:ext cx="1975104" cy="914400"/>
          </a:xfrm>
          <a:prstGeom prst="roundRect">
            <a:avLst>
              <a:gd name="adj" fmla="val 12000"/>
            </a:avLst>
          </a:prstGeom>
          <a:solidFill>
            <a:srgbClr val="F5F4FC"/>
          </a:solidFill>
          <a:ln w="12700">
            <a:solidFill>
              <a:srgbClr val="E4E2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4380" y="18745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7772" y="2249424"/>
            <a:ext cx="164592" cy="164592"/>
          </a:xfrm>
          <a:prstGeom prst="rightArrow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2930652" y="1874520"/>
            <a:ext cx="1975104" cy="91440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30652" y="18745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QuizSphere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924044" y="2249424"/>
            <a:ext cx="164592" cy="164592"/>
          </a:xfrm>
          <a:prstGeom prst="rightArrow">
            <a:avLst/>
          </a:prstGeom>
          <a:solidFill>
            <a:srgbClr val="7C3AED"/>
          </a:solidFill>
          <a:ln/>
        </p:spPr>
      </p:sp>
      <p:sp>
        <p:nvSpPr>
          <p:cNvPr id="11" name="Shape 9"/>
          <p:cNvSpPr/>
          <p:nvPr/>
        </p:nvSpPr>
        <p:spPr>
          <a:xfrm>
            <a:off x="5106924" y="1874520"/>
            <a:ext cx="1975104" cy="914400"/>
          </a:xfrm>
          <a:prstGeom prst="roundRect">
            <a:avLst>
              <a:gd name="adj" fmla="val 12000"/>
            </a:avLst>
          </a:prstGeom>
          <a:solidFill>
            <a:srgbClr val="F5F4FC"/>
          </a:solidFill>
          <a:ln w="12700">
            <a:solidFill>
              <a:srgbClr val="E4E2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06924" y="18745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00316" y="2249424"/>
            <a:ext cx="164592" cy="164592"/>
          </a:xfrm>
          <a:prstGeom prst="rightArrow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7283196" y="1874520"/>
            <a:ext cx="1975104" cy="914400"/>
          </a:xfrm>
          <a:prstGeom prst="roundRect">
            <a:avLst>
              <a:gd name="adj" fmla="val 12000"/>
            </a:avLst>
          </a:prstGeom>
          <a:solidFill>
            <a:srgbClr val="F5F4FC"/>
          </a:solidFill>
          <a:ln w="12700">
            <a:solidFill>
              <a:srgbClr val="E4E2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83196" y="18745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276588" y="2249424"/>
            <a:ext cx="164592" cy="164592"/>
          </a:xfrm>
          <a:prstGeom prst="rightArrow">
            <a:avLst/>
          </a:prstGeom>
          <a:solidFill>
            <a:srgbClr val="7C3AED"/>
          </a:solidFill>
          <a:ln/>
        </p:spPr>
      </p:sp>
      <p:sp>
        <p:nvSpPr>
          <p:cNvPr id="17" name="Shape 15"/>
          <p:cNvSpPr/>
          <p:nvPr/>
        </p:nvSpPr>
        <p:spPr>
          <a:xfrm>
            <a:off x="9459468" y="1874520"/>
            <a:ext cx="1975104" cy="914400"/>
          </a:xfrm>
          <a:prstGeom prst="roundRect">
            <a:avLst>
              <a:gd name="adj" fmla="val 12000"/>
            </a:avLst>
          </a:prstGeom>
          <a:solidFill>
            <a:srgbClr val="F5F4FC"/>
          </a:solidFill>
          <a:ln w="12700">
            <a:solidFill>
              <a:srgbClr val="E4E2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59468" y="18745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Performance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 powering that flow: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256032" cy="256032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639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58444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quizzes from any topic or PDF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256032" cy="256032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096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404164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practice that adjusts to skill level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572000"/>
            <a:ext cx="256032" cy="256032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553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449884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weak-concept detection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256032" cy="256032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010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0120" y="495604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 for next steps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5486400"/>
            <a:ext cx="256032" cy="256032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5468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0120" y="541324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Learning Coach for guided support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QuizSphere  |  AI-Powered Adaptive Learning Platform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EEB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2F5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892808"/>
            <a:ext cx="365760" cy="365760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61872" y="169164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quizzes automatically using AI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16552" y="169164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2F5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892808"/>
            <a:ext cx="365760" cy="365760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9784" y="169164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student strengths and weaknesses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84464" y="169164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2F5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85632" y="1892808"/>
            <a:ext cx="365760" cy="365760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15" name="Text 13"/>
          <p:cNvSpPr/>
          <p:nvPr/>
        </p:nvSpPr>
        <p:spPr>
          <a:xfrm>
            <a:off x="8485632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97696" y="169164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practice based on performance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15468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2F5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3355848"/>
            <a:ext cx="365760" cy="365760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61872" y="315468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learning progress over time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416552" y="315468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2F5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3355848"/>
            <a:ext cx="365760" cy="365760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29784" y="315468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engagement through gamification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84464" y="315468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2F5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85632" y="3355848"/>
            <a:ext cx="365760" cy="365760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27" name="Text 25"/>
          <p:cNvSpPr/>
          <p:nvPr/>
        </p:nvSpPr>
        <p:spPr>
          <a:xfrm>
            <a:off x="8485632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997696" y="315468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personalized learning assistance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461772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E2F5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9808" y="4818888"/>
            <a:ext cx="365760" cy="365760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61872" y="461772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verifiable certificates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QuizSphere  |  AI-Powered Adaptive Learning Platform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EEB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Students Need to Learn Smarter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13055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E2F5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94460" y="1911096"/>
            <a:ext cx="438912" cy="438912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7" name="Text 5"/>
          <p:cNvSpPr/>
          <p:nvPr/>
        </p:nvSpPr>
        <p:spPr>
          <a:xfrm>
            <a:off x="1394460" y="1892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2468880"/>
            <a:ext cx="1911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Quiz Generation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25496" y="1691640"/>
            <a:ext cx="213055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E2F5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71316" y="1911096"/>
            <a:ext cx="438912" cy="438912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11" name="Text 9"/>
          <p:cNvSpPr/>
          <p:nvPr/>
        </p:nvSpPr>
        <p:spPr>
          <a:xfrm>
            <a:off x="3671316" y="1892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35224" y="2468880"/>
            <a:ext cx="1911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Quiz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102352" y="1691640"/>
            <a:ext cx="213055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E2F5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8172" y="1911096"/>
            <a:ext cx="438912" cy="438912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15" name="Text 13"/>
          <p:cNvSpPr/>
          <p:nvPr/>
        </p:nvSpPr>
        <p:spPr>
          <a:xfrm>
            <a:off x="5948172" y="1892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12080" y="2468880"/>
            <a:ext cx="1911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Practice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79208" y="1691640"/>
            <a:ext cx="213055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E2F5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5028" y="1911096"/>
            <a:ext cx="438912" cy="438912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19" name="Text 17"/>
          <p:cNvSpPr/>
          <p:nvPr/>
        </p:nvSpPr>
        <p:spPr>
          <a:xfrm>
            <a:off x="8225028" y="1892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88936" y="2468880"/>
            <a:ext cx="1911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Mastery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656064" y="1691640"/>
            <a:ext cx="213055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E2F5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501884" y="1911096"/>
            <a:ext cx="438912" cy="438912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23" name="Text 21"/>
          <p:cNvSpPr/>
          <p:nvPr/>
        </p:nvSpPr>
        <p:spPr>
          <a:xfrm>
            <a:off x="10501884" y="1892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765792" y="2468880"/>
            <a:ext cx="1911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Analytics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310128"/>
            <a:ext cx="213055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E2F5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394460" y="3529584"/>
            <a:ext cx="438912" cy="438912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27" name="Text 25"/>
          <p:cNvSpPr/>
          <p:nvPr/>
        </p:nvSpPr>
        <p:spPr>
          <a:xfrm>
            <a:off x="1394460" y="35112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58368" y="4087368"/>
            <a:ext cx="1911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Learning Coach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825496" y="3310128"/>
            <a:ext cx="213055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E2F5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71316" y="3529584"/>
            <a:ext cx="438912" cy="438912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31" name="Text 29"/>
          <p:cNvSpPr/>
          <p:nvPr/>
        </p:nvSpPr>
        <p:spPr>
          <a:xfrm>
            <a:off x="3671316" y="35112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935224" y="4087368"/>
            <a:ext cx="1911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102352" y="3310128"/>
            <a:ext cx="213055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E2F5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948172" y="3529584"/>
            <a:ext cx="438912" cy="438912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35" name="Text 33"/>
          <p:cNvSpPr/>
          <p:nvPr/>
        </p:nvSpPr>
        <p:spPr>
          <a:xfrm>
            <a:off x="5948172" y="35112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212080" y="4087368"/>
            <a:ext cx="1911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379208" y="3310128"/>
            <a:ext cx="213055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E2F5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25028" y="3529584"/>
            <a:ext cx="438912" cy="438912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39" name="Text 37"/>
          <p:cNvSpPr/>
          <p:nvPr/>
        </p:nvSpPr>
        <p:spPr>
          <a:xfrm>
            <a:off x="8225028" y="35112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488936" y="4087368"/>
            <a:ext cx="1911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656064" y="3310128"/>
            <a:ext cx="213055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4E2F5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0501884" y="3529584"/>
            <a:ext cx="438912" cy="438912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43" name="Text 41"/>
          <p:cNvSpPr/>
          <p:nvPr/>
        </p:nvSpPr>
        <p:spPr>
          <a:xfrm>
            <a:off x="10501884" y="35112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765792" y="4087368"/>
            <a:ext cx="1911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Certificate Verification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QuizSphere  |  AI-Powered Adaptive Learning Platform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EEB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657600" cy="566928"/>
          </a:xfrm>
          <a:prstGeom prst="roundRect">
            <a:avLst>
              <a:gd name="adj" fmla="val 16129"/>
            </a:avLst>
          </a:prstGeom>
          <a:solidFill>
            <a:srgbClr val="1E1B3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Student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86584" y="2276856"/>
            <a:ext cx="164592" cy="128016"/>
          </a:xfrm>
          <a:prstGeom prst="downArrow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423160"/>
            <a:ext cx="3657600" cy="566928"/>
          </a:xfrm>
          <a:prstGeom prst="roundRect">
            <a:avLst>
              <a:gd name="adj" fmla="val 16129"/>
            </a:avLst>
          </a:prstGeom>
          <a:solidFill>
            <a:srgbClr val="EEEBF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231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86584" y="3008376"/>
            <a:ext cx="164592" cy="128016"/>
          </a:xfrm>
          <a:prstGeom prst="downArrow">
            <a:avLst/>
          </a:prstGeom>
          <a:solidFill>
            <a:srgbClr val="7C3AED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154680"/>
            <a:ext cx="3657600" cy="566928"/>
          </a:xfrm>
          <a:prstGeom prst="roundRect">
            <a:avLst>
              <a:gd name="adj" fmla="val 16129"/>
            </a:avLst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546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86584" y="3739896"/>
            <a:ext cx="164592" cy="128016"/>
          </a:xfrm>
          <a:prstGeom prst="downArrow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886200"/>
            <a:ext cx="3657600" cy="566928"/>
          </a:xfrm>
          <a:prstGeom prst="roundRect">
            <a:avLst>
              <a:gd name="adj" fmla="val 16129"/>
            </a:avLst>
          </a:prstGeom>
          <a:solidFill>
            <a:srgbClr val="EEEBF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862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386584" y="4471416"/>
            <a:ext cx="164592" cy="128016"/>
          </a:xfrm>
          <a:prstGeom prst="downArrow">
            <a:avLst/>
          </a:prstGeom>
          <a:solidFill>
            <a:srgbClr val="7C3AED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4617720"/>
            <a:ext cx="3657600" cy="566928"/>
          </a:xfrm>
          <a:prstGeom prst="roundRect">
            <a:avLst>
              <a:gd name="adj" fmla="val 16129"/>
            </a:avLst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6177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/ PostgreSQL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386584" y="5202936"/>
            <a:ext cx="164592" cy="128016"/>
          </a:xfrm>
          <a:prstGeom prst="downArrow">
            <a:avLst/>
          </a:prstGeom>
          <a:solidFill>
            <a:srgbClr val="7C3AED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5349240"/>
            <a:ext cx="3657600" cy="566928"/>
          </a:xfrm>
          <a:prstGeom prst="roundRect">
            <a:avLst>
              <a:gd name="adj" fmla="val 16129"/>
            </a:avLst>
          </a:prstGeom>
          <a:solidFill>
            <a:srgbClr val="EEEBF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3492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Analytics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691640"/>
            <a:ext cx="6858000" cy="4224528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4E2F5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0" y="185623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029200" y="228600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F5F4FC"/>
          </a:solidFill>
          <a:ln w="12700">
            <a:solidFill>
              <a:srgbClr val="E4E2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75504" y="2487168"/>
            <a:ext cx="164592" cy="16459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6" name="Text 24"/>
          <p:cNvSpPr/>
          <p:nvPr/>
        </p:nvSpPr>
        <p:spPr>
          <a:xfrm>
            <a:off x="5440680" y="228600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321040" y="228600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F5F4FC"/>
          </a:solidFill>
          <a:ln w="12700">
            <a:solidFill>
              <a:srgbClr val="E4E2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67344" y="2487168"/>
            <a:ext cx="164592" cy="16459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9" name="Text 27"/>
          <p:cNvSpPr/>
          <p:nvPr/>
        </p:nvSpPr>
        <p:spPr>
          <a:xfrm>
            <a:off x="8732520" y="228600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Generation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29200" y="301752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F5F4FC"/>
          </a:solidFill>
          <a:ln w="12700">
            <a:solidFill>
              <a:srgbClr val="E4E2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75504" y="3218688"/>
            <a:ext cx="164592" cy="16459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2" name="Text 30"/>
          <p:cNvSpPr/>
          <p:nvPr/>
        </p:nvSpPr>
        <p:spPr>
          <a:xfrm>
            <a:off x="5440680" y="301752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Processing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321040" y="301752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F5F4FC"/>
          </a:solidFill>
          <a:ln w="12700">
            <a:solidFill>
              <a:srgbClr val="E4E2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67344" y="3218688"/>
            <a:ext cx="164592" cy="16459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5" name="Text 33"/>
          <p:cNvSpPr/>
          <p:nvPr/>
        </p:nvSpPr>
        <p:spPr>
          <a:xfrm>
            <a:off x="8732520" y="301752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Practice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029200" y="374904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F5F4FC"/>
          </a:solidFill>
          <a:ln w="12700">
            <a:solidFill>
              <a:srgbClr val="E4E2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75504" y="3950208"/>
            <a:ext cx="164592" cy="16459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8" name="Text 36"/>
          <p:cNvSpPr/>
          <p:nvPr/>
        </p:nvSpPr>
        <p:spPr>
          <a:xfrm>
            <a:off x="5440680" y="37490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321040" y="374904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F5F4FC"/>
          </a:solidFill>
          <a:ln w="12700">
            <a:solidFill>
              <a:srgbClr val="E4E2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67344" y="3950208"/>
            <a:ext cx="164592" cy="16459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1" name="Text 39"/>
          <p:cNvSpPr/>
          <p:nvPr/>
        </p:nvSpPr>
        <p:spPr>
          <a:xfrm>
            <a:off x="8732520" y="37490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029200" y="448056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F5F4FC"/>
          </a:solidFill>
          <a:ln w="12700">
            <a:solidFill>
              <a:srgbClr val="E4E2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75504" y="4681728"/>
            <a:ext cx="164592" cy="16459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4" name="Text 42"/>
          <p:cNvSpPr/>
          <p:nvPr/>
        </p:nvSpPr>
        <p:spPr>
          <a:xfrm>
            <a:off x="5440680" y="44805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321040" y="4480560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F5F4FC"/>
          </a:solidFill>
          <a:ln w="12700">
            <a:solidFill>
              <a:srgbClr val="E4E2F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467344" y="4681728"/>
            <a:ext cx="164592" cy="16459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7" name="Text 45"/>
          <p:cNvSpPr/>
          <p:nvPr/>
        </p:nvSpPr>
        <p:spPr>
          <a:xfrm>
            <a:off x="8732520" y="44805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QuizSphere  |  AI-Powered Adaptive Learning Platform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EEB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Quiz Generation Workflow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33756" y="219456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388620" y="2194560"/>
            <a:ext cx="14264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/ Material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79092" y="2656332"/>
            <a:ext cx="109728" cy="164592"/>
          </a:xfrm>
          <a:prstGeom prst="rightArrow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1997964" y="219456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EEEBFC"/>
          </a:solidFill>
          <a:ln/>
        </p:spPr>
      </p:sp>
      <p:sp>
        <p:nvSpPr>
          <p:cNvPr id="9" name="Text 7"/>
          <p:cNvSpPr/>
          <p:nvPr/>
        </p:nvSpPr>
        <p:spPr>
          <a:xfrm>
            <a:off x="2052828" y="2194560"/>
            <a:ext cx="14264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43300" y="2656332"/>
            <a:ext cx="109728" cy="164592"/>
          </a:xfrm>
          <a:prstGeom prst="rightArrow">
            <a:avLst/>
          </a:prstGeom>
          <a:solidFill>
            <a:srgbClr val="7C3AED"/>
          </a:solidFill>
          <a:ln/>
        </p:spPr>
      </p:sp>
      <p:sp>
        <p:nvSpPr>
          <p:cNvPr id="11" name="Shape 9"/>
          <p:cNvSpPr/>
          <p:nvPr/>
        </p:nvSpPr>
        <p:spPr>
          <a:xfrm>
            <a:off x="3662172" y="219456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3717036" y="2194560"/>
            <a:ext cx="14264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Generation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07508" y="2656332"/>
            <a:ext cx="109728" cy="164592"/>
          </a:xfrm>
          <a:prstGeom prst="rightArrow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5326380" y="219456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EEEBFC"/>
          </a:solidFill>
          <a:ln/>
        </p:spPr>
      </p:sp>
      <p:sp>
        <p:nvSpPr>
          <p:cNvPr id="15" name="Text 13"/>
          <p:cNvSpPr/>
          <p:nvPr/>
        </p:nvSpPr>
        <p:spPr>
          <a:xfrm>
            <a:off x="5381244" y="2194560"/>
            <a:ext cx="14264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71716" y="2656332"/>
            <a:ext cx="109728" cy="164592"/>
          </a:xfrm>
          <a:prstGeom prst="rightArrow">
            <a:avLst/>
          </a:prstGeom>
          <a:solidFill>
            <a:srgbClr val="7C3AED"/>
          </a:solidFill>
          <a:ln/>
        </p:spPr>
      </p:sp>
      <p:sp>
        <p:nvSpPr>
          <p:cNvPr id="17" name="Shape 15"/>
          <p:cNvSpPr/>
          <p:nvPr/>
        </p:nvSpPr>
        <p:spPr>
          <a:xfrm>
            <a:off x="6990588" y="219456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7045452" y="2194560"/>
            <a:ext cx="14264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535924" y="2656332"/>
            <a:ext cx="109728" cy="164592"/>
          </a:xfrm>
          <a:prstGeom prst="rightArrow">
            <a:avLst/>
          </a:prstGeom>
          <a:solidFill>
            <a:srgbClr val="7C3AED"/>
          </a:solidFill>
          <a:ln/>
        </p:spPr>
      </p:sp>
      <p:sp>
        <p:nvSpPr>
          <p:cNvPr id="20" name="Shape 18"/>
          <p:cNvSpPr/>
          <p:nvPr/>
        </p:nvSpPr>
        <p:spPr>
          <a:xfrm>
            <a:off x="8654796" y="219456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EEEBFC"/>
          </a:solidFill>
          <a:ln/>
        </p:spPr>
      </p:sp>
      <p:sp>
        <p:nvSpPr>
          <p:cNvPr id="21" name="Text 19"/>
          <p:cNvSpPr/>
          <p:nvPr/>
        </p:nvSpPr>
        <p:spPr>
          <a:xfrm>
            <a:off x="8709660" y="2194560"/>
            <a:ext cx="14264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Attempt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200132" y="2656332"/>
            <a:ext cx="109728" cy="164592"/>
          </a:xfrm>
          <a:prstGeom prst="rightArrow">
            <a:avLst/>
          </a:prstGeom>
          <a:solidFill>
            <a:srgbClr val="7C3AED"/>
          </a:solidFill>
          <a:ln/>
        </p:spPr>
      </p:sp>
      <p:sp>
        <p:nvSpPr>
          <p:cNvPr id="23" name="Shape 21"/>
          <p:cNvSpPr/>
          <p:nvPr/>
        </p:nvSpPr>
        <p:spPr>
          <a:xfrm>
            <a:off x="10319004" y="2194560"/>
            <a:ext cx="1536192" cy="1051560"/>
          </a:xfrm>
          <a:prstGeom prst="roundRect">
            <a:avLst>
              <a:gd name="adj" fmla="val 8696"/>
            </a:avLst>
          </a:prstGeom>
          <a:solidFill>
            <a:srgbClr val="4F46E5"/>
          </a:solidFill>
          <a:ln/>
        </p:spPr>
      </p:sp>
      <p:sp>
        <p:nvSpPr>
          <p:cNvPr id="24" name="Text 22"/>
          <p:cNvSpPr/>
          <p:nvPr/>
        </p:nvSpPr>
        <p:spPr>
          <a:xfrm>
            <a:off x="10373868" y="2194560"/>
            <a:ext cx="14264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703320"/>
            <a:ext cx="11064240" cy="1920240"/>
          </a:xfrm>
          <a:prstGeom prst="roundRect">
            <a:avLst>
              <a:gd name="adj" fmla="val 5714"/>
            </a:avLst>
          </a:prstGeom>
          <a:solidFill>
            <a:srgbClr val="EEEBFC"/>
          </a:solidFill>
          <a:ln w="12700">
            <a:solidFill>
              <a:srgbClr val="EEEB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&amp; Fallback Architecture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43434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LLM generates questions from the topic or extracted PDF content. 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validation step checks structure and correctness before questions reach the student. 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QuizSphere  |  AI-Powered Adaptive Learning Platform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EEB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Mastery &amp; Weak-Area Detection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54380" y="1874520"/>
            <a:ext cx="1975104" cy="1051560"/>
          </a:xfrm>
          <a:prstGeom prst="roundRect">
            <a:avLst>
              <a:gd name="adj" fmla="val 10435"/>
            </a:avLst>
          </a:prstGeom>
          <a:solidFill>
            <a:srgbClr val="F5F4FC"/>
          </a:solidFill>
          <a:ln w="12700">
            <a:solidFill>
              <a:srgbClr val="E4E2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4380" y="1874520"/>
            <a:ext cx="1975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Attempt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7772" y="2318004"/>
            <a:ext cx="164592" cy="164592"/>
          </a:xfrm>
          <a:prstGeom prst="rightArrow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2930652" y="1874520"/>
            <a:ext cx="1975104" cy="1051560"/>
          </a:xfrm>
          <a:prstGeom prst="roundRect">
            <a:avLst>
              <a:gd name="adj" fmla="val 10435"/>
            </a:avLst>
          </a:prstGeom>
          <a:solidFill>
            <a:srgbClr val="F5F4FC"/>
          </a:solidFill>
          <a:ln w="12700">
            <a:solidFill>
              <a:srgbClr val="E4E2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30652" y="1874520"/>
            <a:ext cx="1975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24044" y="2318004"/>
            <a:ext cx="164592" cy="164592"/>
          </a:xfrm>
          <a:prstGeom prst="rightArrow">
            <a:avLst/>
          </a:prstGeom>
          <a:solidFill>
            <a:srgbClr val="7C3AED"/>
          </a:solidFill>
          <a:ln/>
        </p:spPr>
      </p:sp>
      <p:sp>
        <p:nvSpPr>
          <p:cNvPr id="11" name="Shape 9"/>
          <p:cNvSpPr/>
          <p:nvPr/>
        </p:nvSpPr>
        <p:spPr>
          <a:xfrm>
            <a:off x="5106924" y="1874520"/>
            <a:ext cx="1975104" cy="1051560"/>
          </a:xfrm>
          <a:prstGeom prst="roundRect">
            <a:avLst>
              <a:gd name="adj" fmla="val 1043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06924" y="1874520"/>
            <a:ext cx="1975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00316" y="2318004"/>
            <a:ext cx="164592" cy="164592"/>
          </a:xfrm>
          <a:prstGeom prst="rightArrow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7283196" y="1874520"/>
            <a:ext cx="1975104" cy="1051560"/>
          </a:xfrm>
          <a:prstGeom prst="roundRect">
            <a:avLst>
              <a:gd name="adj" fmla="val 10435"/>
            </a:avLst>
          </a:prstGeom>
          <a:solidFill>
            <a:srgbClr val="F5F4FC"/>
          </a:solidFill>
          <a:ln w="12700">
            <a:solidFill>
              <a:srgbClr val="E4E2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83196" y="1874520"/>
            <a:ext cx="1975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276588" y="2318004"/>
            <a:ext cx="164592" cy="164592"/>
          </a:xfrm>
          <a:prstGeom prst="rightArrow">
            <a:avLst/>
          </a:prstGeom>
          <a:solidFill>
            <a:srgbClr val="7C3AED"/>
          </a:solidFill>
          <a:ln/>
        </p:spPr>
      </p:sp>
      <p:sp>
        <p:nvSpPr>
          <p:cNvPr id="17" name="Shape 15"/>
          <p:cNvSpPr/>
          <p:nvPr/>
        </p:nvSpPr>
        <p:spPr>
          <a:xfrm>
            <a:off x="9459468" y="1874520"/>
            <a:ext cx="1975104" cy="1051560"/>
          </a:xfrm>
          <a:prstGeom prst="roundRect">
            <a:avLst>
              <a:gd name="adj" fmla="val 10435"/>
            </a:avLst>
          </a:prstGeom>
          <a:solidFill>
            <a:srgbClr val="F5F4FC"/>
          </a:solidFill>
          <a:ln w="12700">
            <a:solidFill>
              <a:srgbClr val="E4E2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59468" y="1874520"/>
            <a:ext cx="1975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246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scores every attempt at the concept level, so practice is targeted rather than generic.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Mastery Overview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343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Basics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0" y="4416552"/>
            <a:ext cx="4206240" cy="164592"/>
          </a:xfrm>
          <a:prstGeom prst="roundRect">
            <a:avLst>
              <a:gd name="adj" fmla="val 50000"/>
            </a:avLst>
          </a:prstGeom>
          <a:solidFill>
            <a:srgbClr val="E4E2F5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0" y="4416552"/>
            <a:ext cx="3575304" cy="16459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7955280" y="43434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846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Structures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0" y="4919472"/>
            <a:ext cx="4206240" cy="164592"/>
          </a:xfrm>
          <a:prstGeom prst="roundRect">
            <a:avLst>
              <a:gd name="adj" fmla="val 50000"/>
            </a:avLst>
          </a:prstGeom>
          <a:solidFill>
            <a:srgbClr val="E4E2F5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0" y="4919472"/>
            <a:ext cx="2607869" cy="164592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28" name="Text 26"/>
          <p:cNvSpPr/>
          <p:nvPr/>
        </p:nvSpPr>
        <p:spPr>
          <a:xfrm>
            <a:off x="7955280" y="4846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349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&amp; Drawing (Drill)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57600" y="5422392"/>
            <a:ext cx="4206240" cy="164592"/>
          </a:xfrm>
          <a:prstGeom prst="roundRect">
            <a:avLst>
              <a:gd name="adj" fmla="val 50000"/>
            </a:avLst>
          </a:prstGeom>
          <a:solidFill>
            <a:srgbClr val="E4E2F5"/>
          </a:solidFill>
          <a:ln/>
        </p:spPr>
      </p:sp>
      <p:sp>
        <p:nvSpPr>
          <p:cNvPr id="31" name="Shape 29"/>
          <p:cNvSpPr/>
          <p:nvPr/>
        </p:nvSpPr>
        <p:spPr>
          <a:xfrm>
            <a:off x="3657600" y="5422392"/>
            <a:ext cx="1430122" cy="16459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7955280" y="5349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5852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657600" y="5925312"/>
            <a:ext cx="4206240" cy="164592"/>
          </a:xfrm>
          <a:prstGeom prst="roundRect">
            <a:avLst>
              <a:gd name="adj" fmla="val 50000"/>
            </a:avLst>
          </a:prstGeom>
          <a:solidFill>
            <a:srgbClr val="E4E2F5"/>
          </a:solidFill>
          <a:ln/>
        </p:spPr>
      </p:sp>
      <p:sp>
        <p:nvSpPr>
          <p:cNvPr id="35" name="Shape 33"/>
          <p:cNvSpPr/>
          <p:nvPr/>
        </p:nvSpPr>
        <p:spPr>
          <a:xfrm>
            <a:off x="3657600" y="5925312"/>
            <a:ext cx="2313432" cy="16459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7955280" y="5852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321040" y="384048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4E2F5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549640" y="4023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Practice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549640" y="4434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&amp; Drawing (Drill)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549640" y="4892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this weak area to build a solid foundation.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549640" y="548640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42" name="Text 40"/>
          <p:cNvSpPr/>
          <p:nvPr/>
        </p:nvSpPr>
        <p:spPr>
          <a:xfrm>
            <a:off x="8549640" y="548640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QuizSphere  |  AI-Powered Adaptive Learning Platform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EEB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That Keeps Students Engaged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54380" y="1737360"/>
            <a:ext cx="1975104" cy="960120"/>
          </a:xfrm>
          <a:prstGeom prst="roundRect">
            <a:avLst>
              <a:gd name="adj" fmla="val 11429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754380" y="1737360"/>
            <a:ext cx="1975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7772" y="2135124"/>
            <a:ext cx="164592" cy="164592"/>
          </a:xfrm>
          <a:prstGeom prst="rightArrow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2930652" y="1737360"/>
            <a:ext cx="1975104" cy="960120"/>
          </a:xfrm>
          <a:prstGeom prst="roundRect">
            <a:avLst>
              <a:gd name="adj" fmla="val 11429"/>
            </a:avLst>
          </a:prstGeom>
          <a:solidFill>
            <a:srgbClr val="EEEBFC"/>
          </a:solidFill>
          <a:ln/>
        </p:spPr>
      </p:sp>
      <p:sp>
        <p:nvSpPr>
          <p:cNvPr id="9" name="Text 7"/>
          <p:cNvSpPr/>
          <p:nvPr/>
        </p:nvSpPr>
        <p:spPr>
          <a:xfrm>
            <a:off x="2930652" y="1737360"/>
            <a:ext cx="1975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XP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24044" y="2135124"/>
            <a:ext cx="164592" cy="164592"/>
          </a:xfrm>
          <a:prstGeom prst="rightArrow">
            <a:avLst/>
          </a:prstGeom>
          <a:solidFill>
            <a:srgbClr val="7C3AED"/>
          </a:solidFill>
          <a:ln/>
        </p:spPr>
      </p:sp>
      <p:sp>
        <p:nvSpPr>
          <p:cNvPr id="11" name="Shape 9"/>
          <p:cNvSpPr/>
          <p:nvPr/>
        </p:nvSpPr>
        <p:spPr>
          <a:xfrm>
            <a:off x="5106924" y="1737360"/>
            <a:ext cx="1975104" cy="960120"/>
          </a:xfrm>
          <a:prstGeom prst="roundRect">
            <a:avLst>
              <a:gd name="adj" fmla="val 11429"/>
            </a:avLst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5106924" y="1737360"/>
            <a:ext cx="1975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Up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00316" y="2135124"/>
            <a:ext cx="164592" cy="164592"/>
          </a:xfrm>
          <a:prstGeom prst="rightArrow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7283196" y="1737360"/>
            <a:ext cx="1975104" cy="960120"/>
          </a:xfrm>
          <a:prstGeom prst="roundRect">
            <a:avLst>
              <a:gd name="adj" fmla="val 11429"/>
            </a:avLst>
          </a:prstGeom>
          <a:solidFill>
            <a:srgbClr val="EEEBFC"/>
          </a:solidFill>
          <a:ln/>
        </p:spPr>
      </p:sp>
      <p:sp>
        <p:nvSpPr>
          <p:cNvPr id="15" name="Text 13"/>
          <p:cNvSpPr/>
          <p:nvPr/>
        </p:nvSpPr>
        <p:spPr>
          <a:xfrm>
            <a:off x="7283196" y="1737360"/>
            <a:ext cx="1975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276588" y="2135124"/>
            <a:ext cx="164592" cy="164592"/>
          </a:xfrm>
          <a:prstGeom prst="rightArrow">
            <a:avLst/>
          </a:prstGeom>
          <a:solidFill>
            <a:srgbClr val="7C3AED"/>
          </a:solidFill>
          <a:ln/>
        </p:spPr>
      </p:sp>
      <p:sp>
        <p:nvSpPr>
          <p:cNvPr id="17" name="Shape 15"/>
          <p:cNvSpPr/>
          <p:nvPr/>
        </p:nvSpPr>
        <p:spPr>
          <a:xfrm>
            <a:off x="9459468" y="1737360"/>
            <a:ext cx="1975104" cy="960120"/>
          </a:xfrm>
          <a:prstGeom prst="roundRect">
            <a:avLst>
              <a:gd name="adj" fmla="val 11429"/>
            </a:avLst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9459468" y="1737360"/>
            <a:ext cx="1975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36118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4E2F5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246120"/>
            <a:ext cx="365760" cy="365760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31729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3630168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earned for every quiz attempt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16552" y="3063240"/>
            <a:ext cx="36118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4E2F5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3246120"/>
            <a:ext cx="365760" cy="365760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02352" y="31729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17720" y="3630168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milestones as XP accumulates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84464" y="3063240"/>
            <a:ext cx="36118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4E2F5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85632" y="3246120"/>
            <a:ext cx="365760" cy="365760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31" name="Text 29"/>
          <p:cNvSpPr/>
          <p:nvPr/>
        </p:nvSpPr>
        <p:spPr>
          <a:xfrm>
            <a:off x="8485632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970264" y="31729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Streaks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85632" y="3630168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consistent, daily practice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453128"/>
            <a:ext cx="36118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4E2F5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49808" y="4636008"/>
            <a:ext cx="365760" cy="365760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" y="4608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234440" y="456285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49808" y="5020056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Unlockable badges for milestones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416552" y="4453128"/>
            <a:ext cx="36118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4E2F5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17720" y="4636008"/>
            <a:ext cx="365760" cy="365760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41" name="Text 39"/>
          <p:cNvSpPr/>
          <p:nvPr/>
        </p:nvSpPr>
        <p:spPr>
          <a:xfrm>
            <a:off x="4617720" y="4608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102352" y="456285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617720" y="5020056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competition across learners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284464" y="4453128"/>
            <a:ext cx="36118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4E2F5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485632" y="4636008"/>
            <a:ext cx="365760" cy="365760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46" name="Text 44"/>
          <p:cNvSpPr/>
          <p:nvPr/>
        </p:nvSpPr>
        <p:spPr>
          <a:xfrm>
            <a:off x="8485632" y="4608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8970264" y="456285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485632" y="5020056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for consistent progress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QuizSphere  |  AI-Powered Adaptive Learning Platform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EEB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LEARNING COACH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Guidance, On Demand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Learning Coach interprets each student's results and turns them into clear next steps.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F5F4FC"/>
          </a:solidFill>
          <a:ln w="12700">
            <a:solidFill>
              <a:srgbClr val="E4E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860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688336" y="2752344"/>
            <a:ext cx="292608" cy="164592"/>
          </a:xfrm>
          <a:prstGeom prst="rightArrow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3017520" y="228600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22860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157216" y="2752344"/>
            <a:ext cx="292608" cy="164592"/>
          </a:xfrm>
          <a:prstGeom prst="rightArrow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0" y="228600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F5F4FC"/>
          </a:solidFill>
          <a:ln w="12700">
            <a:solidFill>
              <a:srgbClr val="E4E2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22860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the Coach considers: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237744" cy="237744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1879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41330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performance and scores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237744" cy="237744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6451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45902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weak concepts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120640"/>
            <a:ext cx="237744" cy="237744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1023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50474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quiz results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577840"/>
            <a:ext cx="237744" cy="237744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5595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55046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learning progress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01000" y="2286000"/>
            <a:ext cx="3657600" cy="3931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4E2F5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29600" y="2514600"/>
            <a:ext cx="329184" cy="32918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0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59368" y="25146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229600" y="3063240"/>
            <a:ext cx="2880360" cy="914400"/>
          </a:xfrm>
          <a:prstGeom prst="roundRect">
            <a:avLst>
              <a:gd name="adj" fmla="val 10000"/>
            </a:avLst>
          </a:prstGeom>
          <a:solidFill>
            <a:srgbClr val="F5F4FC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0" y="31546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scored well on Loops but struggled with Nested Conditionals. Let's break that down.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778240" y="411480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EEEBFC"/>
          </a:solidFill>
          <a:ln/>
        </p:spPr>
      </p:sp>
      <p:sp>
        <p:nvSpPr>
          <p:cNvPr id="34" name="Text 32"/>
          <p:cNvSpPr/>
          <p:nvPr/>
        </p:nvSpPr>
        <p:spPr>
          <a:xfrm>
            <a:off x="8915400" y="4206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give me a quick example?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229600" y="5029200"/>
            <a:ext cx="2880360" cy="960120"/>
          </a:xfrm>
          <a:prstGeom prst="roundRect">
            <a:avLst>
              <a:gd name="adj" fmla="val 9524"/>
            </a:avLst>
          </a:prstGeom>
          <a:solidFill>
            <a:srgbClr val="F5F4FC"/>
          </a:solidFill>
          <a:ln/>
        </p:spPr>
      </p:sp>
      <p:sp>
        <p:nvSpPr>
          <p:cNvPr id="36" name="Text 34"/>
          <p:cNvSpPr/>
          <p:nvPr/>
        </p:nvSpPr>
        <p:spPr>
          <a:xfrm>
            <a:off x="8412480" y="51206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 — think of it as a decision inside another decision. Try Practice Set 3 to reinforce it.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QuizSphere  |  AI-Powered Adaptive Learning Platform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EEB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Verifiable Certificates of Achievement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600200" cy="960120"/>
          </a:xfrm>
          <a:prstGeom prst="roundRect">
            <a:avLst>
              <a:gd name="adj" fmla="val 11429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185416" y="2098548"/>
            <a:ext cx="128016" cy="164592"/>
          </a:xfrm>
          <a:prstGeom prst="rightArrow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2350008" y="1691640"/>
            <a:ext cx="1600200" cy="960120"/>
          </a:xfrm>
          <a:prstGeom prst="roundRect">
            <a:avLst>
              <a:gd name="adj" fmla="val 11429"/>
            </a:avLst>
          </a:prstGeom>
          <a:solidFill>
            <a:srgbClr val="EEEBFC"/>
          </a:solidFill>
          <a:ln/>
        </p:spPr>
      </p:sp>
      <p:sp>
        <p:nvSpPr>
          <p:cNvPr id="9" name="Text 7"/>
          <p:cNvSpPr/>
          <p:nvPr/>
        </p:nvSpPr>
        <p:spPr>
          <a:xfrm>
            <a:off x="2350008" y="169164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986784" y="2098548"/>
            <a:ext cx="128016" cy="164592"/>
          </a:xfrm>
          <a:prstGeom prst="rightArrow">
            <a:avLst/>
          </a:prstGeom>
          <a:solidFill>
            <a:srgbClr val="7C3AED"/>
          </a:solidFill>
          <a:ln/>
        </p:spPr>
      </p:sp>
      <p:sp>
        <p:nvSpPr>
          <p:cNvPr id="11" name="Shape 9"/>
          <p:cNvSpPr/>
          <p:nvPr/>
        </p:nvSpPr>
        <p:spPr>
          <a:xfrm>
            <a:off x="4151376" y="1691640"/>
            <a:ext cx="1600200" cy="960120"/>
          </a:xfrm>
          <a:prstGeom prst="roundRect">
            <a:avLst>
              <a:gd name="adj" fmla="val 11429"/>
            </a:avLst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4151376" y="169164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788152" y="2098548"/>
            <a:ext cx="128016" cy="164592"/>
          </a:xfrm>
          <a:prstGeom prst="rightArrow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5952744" y="1691640"/>
            <a:ext cx="1600200" cy="960120"/>
          </a:xfrm>
          <a:prstGeom prst="roundRect">
            <a:avLst>
              <a:gd name="adj" fmla="val 11429"/>
            </a:avLst>
          </a:prstGeom>
          <a:solidFill>
            <a:srgbClr val="EEEBFC"/>
          </a:solidFill>
          <a:ln/>
        </p:spPr>
      </p:sp>
      <p:sp>
        <p:nvSpPr>
          <p:cNvPr id="15" name="Text 13"/>
          <p:cNvSpPr/>
          <p:nvPr/>
        </p:nvSpPr>
        <p:spPr>
          <a:xfrm>
            <a:off x="5952744" y="1691640"/>
            <a:ext cx="1600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274320" cy="274320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008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9626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794760" y="29626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Awarded after mastery threshold is met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584448"/>
            <a:ext cx="274320" cy="274320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75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5295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Generation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794760" y="35295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instantly upon completion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151376"/>
            <a:ext cx="274320" cy="274320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142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4096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Certificate ID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794760" y="40965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certificate has a distinct identifier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718304"/>
            <a:ext cx="274320" cy="274320"/>
          </a:xfrm>
          <a:prstGeom prst="ellipse">
            <a:avLst/>
          </a:prstGeom>
          <a:solidFill>
            <a:srgbClr val="EEEBFC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Verification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794760" y="4663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Scannable code links to a public record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83880" y="1554480"/>
            <a:ext cx="3474720" cy="4709160"/>
          </a:xfrm>
          <a:prstGeom prst="roundRect">
            <a:avLst>
              <a:gd name="adj" fmla="val 3158"/>
            </a:avLst>
          </a:prstGeom>
          <a:solidFill>
            <a:srgbClr val="FAFAFE"/>
          </a:solidFill>
          <a:ln w="19050">
            <a:solidFill>
              <a:srgbClr val="4F46E5"/>
            </a:solidFill>
            <a:prstDash val="solid"/>
          </a:ln>
          <a:effectLst>
            <a:outerShdw blurRad="127000" dist="38100" dir="5400000" algn="bl" rotWithShape="0">
              <a:srgbClr val="3A357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18388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QuizSphere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66760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Achievement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18388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certifies that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18388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Name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823960" y="3429000"/>
            <a:ext cx="2194560" cy="0"/>
          </a:xfrm>
          <a:prstGeom prst="line">
            <a:avLst/>
          </a:prstGeom>
          <a:noFill/>
          <a:ln w="12700">
            <a:solidFill>
              <a:srgbClr val="E4E2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8388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successfully completed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183880" y="3767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Practice Quiz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183880" y="4096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80%      Date: —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183880" y="4434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Certificate ID: xxxxxxxx-xxxx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418320" y="4800600"/>
            <a:ext cx="1005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491472" y="4873752"/>
            <a:ext cx="143256" cy="143256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44" name="Shape 42"/>
          <p:cNvSpPr/>
          <p:nvPr/>
        </p:nvSpPr>
        <p:spPr>
          <a:xfrm>
            <a:off x="9921240" y="4873752"/>
            <a:ext cx="143256" cy="143256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45" name="Shape 43"/>
          <p:cNvSpPr/>
          <p:nvPr/>
        </p:nvSpPr>
        <p:spPr>
          <a:xfrm>
            <a:off x="9777984" y="5017008"/>
            <a:ext cx="143256" cy="143256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46" name="Shape 44"/>
          <p:cNvSpPr/>
          <p:nvPr/>
        </p:nvSpPr>
        <p:spPr>
          <a:xfrm>
            <a:off x="10207752" y="5017008"/>
            <a:ext cx="143256" cy="143256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47" name="Shape 45"/>
          <p:cNvSpPr/>
          <p:nvPr/>
        </p:nvSpPr>
        <p:spPr>
          <a:xfrm>
            <a:off x="9634728" y="5160264"/>
            <a:ext cx="143256" cy="143256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48" name="Shape 46"/>
          <p:cNvSpPr/>
          <p:nvPr/>
        </p:nvSpPr>
        <p:spPr>
          <a:xfrm>
            <a:off x="10064496" y="5160264"/>
            <a:ext cx="143256" cy="143256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49" name="Shape 47"/>
          <p:cNvSpPr/>
          <p:nvPr/>
        </p:nvSpPr>
        <p:spPr>
          <a:xfrm>
            <a:off x="9491472" y="5303520"/>
            <a:ext cx="143256" cy="143256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50" name="Shape 48"/>
          <p:cNvSpPr/>
          <p:nvPr/>
        </p:nvSpPr>
        <p:spPr>
          <a:xfrm>
            <a:off x="9921240" y="5303520"/>
            <a:ext cx="143256" cy="143256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51" name="Shape 49"/>
          <p:cNvSpPr/>
          <p:nvPr/>
        </p:nvSpPr>
        <p:spPr>
          <a:xfrm>
            <a:off x="9777984" y="5446776"/>
            <a:ext cx="143256" cy="143256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52" name="Shape 50"/>
          <p:cNvSpPr/>
          <p:nvPr/>
        </p:nvSpPr>
        <p:spPr>
          <a:xfrm>
            <a:off x="10207752" y="5446776"/>
            <a:ext cx="143256" cy="143256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53" name="Shape 51"/>
          <p:cNvSpPr/>
          <p:nvPr/>
        </p:nvSpPr>
        <p:spPr>
          <a:xfrm>
            <a:off x="9634728" y="5590032"/>
            <a:ext cx="143256" cy="143256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54" name="Shape 52"/>
          <p:cNvSpPr/>
          <p:nvPr/>
        </p:nvSpPr>
        <p:spPr>
          <a:xfrm>
            <a:off x="10064496" y="5590032"/>
            <a:ext cx="143256" cy="143256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55" name="Text 53"/>
          <p:cNvSpPr/>
          <p:nvPr/>
        </p:nvSpPr>
        <p:spPr>
          <a:xfrm>
            <a:off x="8183880" y="58795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verify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QuizSphere  |  AI-Powered Adaptive Learning Platform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EEB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Security in Mind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1E1B3F"/>
          </a:solidFill>
          <a:ln w="12700">
            <a:solidFill>
              <a:srgbClr val="322D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97964"/>
            <a:ext cx="347472" cy="347472"/>
          </a:xfrm>
          <a:prstGeom prst="ellipse">
            <a:avLst/>
          </a:prstGeom>
          <a:solidFill>
            <a:srgbClr val="2A266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9796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8013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 (RLS)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34440" y="2148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policies restrict data access per user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1E1B3F"/>
          </a:solidFill>
          <a:ln w="12700">
            <a:solidFill>
              <a:srgbClr val="322D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19088" y="1997964"/>
            <a:ext cx="347472" cy="347472"/>
          </a:xfrm>
          <a:prstGeom prst="ellipse">
            <a:avLst/>
          </a:prstGeom>
          <a:solidFill>
            <a:srgbClr val="2A2660"/>
          </a:solidFill>
          <a:ln/>
        </p:spPr>
      </p:sp>
      <p:sp>
        <p:nvSpPr>
          <p:cNvPr id="12" name="Text 10"/>
          <p:cNvSpPr/>
          <p:nvPr/>
        </p:nvSpPr>
        <p:spPr>
          <a:xfrm>
            <a:off x="6419088" y="19796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03720" y="18013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Grading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903720" y="2148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happens on the server, not the client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852928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1E1B3F"/>
          </a:solidFill>
          <a:ln w="12700">
            <a:solidFill>
              <a:srgbClr val="322D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3159252"/>
            <a:ext cx="347472" cy="347472"/>
          </a:xfrm>
          <a:prstGeom prst="ellipse">
            <a:avLst/>
          </a:prstGeom>
          <a:solidFill>
            <a:srgbClr val="2A2660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1409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96265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Protection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34440" y="33101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against cross-site request forgery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2852928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1E1B3F"/>
          </a:solidFill>
          <a:ln w="12700">
            <a:solidFill>
              <a:srgbClr val="322D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19088" y="3159252"/>
            <a:ext cx="347472" cy="347472"/>
          </a:xfrm>
          <a:prstGeom prst="ellipse">
            <a:avLst/>
          </a:prstGeom>
          <a:solidFill>
            <a:srgbClr val="2A2660"/>
          </a:solidFill>
          <a:ln/>
        </p:spPr>
      </p:sp>
      <p:sp>
        <p:nvSpPr>
          <p:cNvPr id="22" name="Text 20"/>
          <p:cNvSpPr/>
          <p:nvPr/>
        </p:nvSpPr>
        <p:spPr>
          <a:xfrm>
            <a:off x="6419088" y="31409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296265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903720" y="33101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abuse of AI and API endpoints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014216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1E1B3F"/>
          </a:solidFill>
          <a:ln w="12700">
            <a:solidFill>
              <a:srgbClr val="322D6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" y="4320540"/>
            <a:ext cx="347472" cy="347472"/>
          </a:xfrm>
          <a:prstGeom prst="ellipse">
            <a:avLst/>
          </a:prstGeom>
          <a:solidFill>
            <a:srgbClr val="2A2660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43022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34440" y="41239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Validation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234440" y="44714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malformed or invalid identifiers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4014216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1E1B3F"/>
          </a:solidFill>
          <a:ln w="12700">
            <a:solidFill>
              <a:srgbClr val="322D6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19088" y="4320540"/>
            <a:ext cx="347472" cy="347472"/>
          </a:xfrm>
          <a:prstGeom prst="ellipse">
            <a:avLst/>
          </a:prstGeom>
          <a:solidFill>
            <a:srgbClr val="2A2660"/>
          </a:solidFill>
          <a:ln/>
        </p:spPr>
      </p:sp>
      <p:sp>
        <p:nvSpPr>
          <p:cNvPr id="32" name="Text 30"/>
          <p:cNvSpPr/>
          <p:nvPr/>
        </p:nvSpPr>
        <p:spPr>
          <a:xfrm>
            <a:off x="6419088" y="43022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03720" y="41239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Escaping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903720" y="44714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injection in rendered content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175504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1E1B3F"/>
          </a:solidFill>
          <a:ln w="12700">
            <a:solidFill>
              <a:srgbClr val="322D6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" y="5481828"/>
            <a:ext cx="347472" cy="347472"/>
          </a:xfrm>
          <a:prstGeom prst="ellipse">
            <a:avLst/>
          </a:prstGeom>
          <a:solidFill>
            <a:srgbClr val="2A2660"/>
          </a:solidFill>
          <a:ln/>
        </p:spPr>
      </p:sp>
      <p:sp>
        <p:nvSpPr>
          <p:cNvPr id="37" name="Text 35"/>
          <p:cNvSpPr/>
          <p:nvPr/>
        </p:nvSpPr>
        <p:spPr>
          <a:xfrm>
            <a:off x="749808" y="54635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234440" y="52852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Server-Side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234440" y="56327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never exposed to the browser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17920" y="5175504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1E1B3F"/>
          </a:solidFill>
          <a:ln w="12700">
            <a:solidFill>
              <a:srgbClr val="322D6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19088" y="5481828"/>
            <a:ext cx="347472" cy="347472"/>
          </a:xfrm>
          <a:prstGeom prst="ellipse">
            <a:avLst/>
          </a:prstGeom>
          <a:solidFill>
            <a:srgbClr val="2A2660"/>
          </a:solidFill>
          <a:ln/>
        </p:spPr>
      </p:sp>
      <p:sp>
        <p:nvSpPr>
          <p:cNvPr id="42" name="Text 40"/>
          <p:cNvSpPr/>
          <p:nvPr/>
        </p:nvSpPr>
        <p:spPr>
          <a:xfrm>
            <a:off x="6419088" y="54635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903720" y="52852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Certificate Metadata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6903720" y="56327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data protected from tampering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QuizSphere  |  AI-Powered Adaptive Learning Platform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EEB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Through Rigorous Testing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85216" y="1691640"/>
            <a:ext cx="3429000" cy="1554480"/>
          </a:xfrm>
          <a:prstGeom prst="roundRect">
            <a:avLst>
              <a:gd name="adj" fmla="val 7059"/>
            </a:avLst>
          </a:prstGeom>
          <a:solidFill>
            <a:srgbClr val="EEEBFC"/>
          </a:solidFill>
          <a:ln w="12700">
            <a:solidFill>
              <a:srgbClr val="EEEB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82880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15/15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85216" y="2606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Checks Passed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79976" y="1691640"/>
            <a:ext cx="3429000" cy="1554480"/>
          </a:xfrm>
          <a:prstGeom prst="roundRect">
            <a:avLst>
              <a:gd name="adj" fmla="val 7059"/>
            </a:avLst>
          </a:prstGeom>
          <a:solidFill>
            <a:srgbClr val="EEEBFC"/>
          </a:solidFill>
          <a:ln w="12700">
            <a:solidFill>
              <a:srgbClr val="EEEB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79976" y="182880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379976" y="2606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74736" y="1691640"/>
            <a:ext cx="3429000" cy="1554480"/>
          </a:xfrm>
          <a:prstGeom prst="roundRect">
            <a:avLst>
              <a:gd name="adj" fmla="val 7059"/>
            </a:avLst>
          </a:prstGeom>
          <a:solidFill>
            <a:srgbClr val="EEEBFC"/>
          </a:solidFill>
          <a:ln w="12700">
            <a:solidFill>
              <a:srgbClr val="EEEB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74736" y="182880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174736" y="2606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Flows Verified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Coverage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5F4FC"/>
          </a:solidFill>
          <a:ln w="12700">
            <a:solidFill>
              <a:srgbClr val="E4E2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023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Authentication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37560" y="40233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5F4FC"/>
          </a:solidFill>
          <a:ln w="12700">
            <a:solidFill>
              <a:srgbClr val="E4E2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4023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Quiz Generation &amp; Attempts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40233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5F4FC"/>
          </a:solidFill>
          <a:ln w="12700">
            <a:solidFill>
              <a:srgbClr val="E4E2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4023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Adaptive Practice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15400" y="402336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5F4FC"/>
          </a:solidFill>
          <a:ln w="12700">
            <a:solidFill>
              <a:srgbClr val="E4E2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0" y="4023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Gamification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98348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5F4FC"/>
          </a:solidFill>
          <a:ln w="12700">
            <a:solidFill>
              <a:srgbClr val="E4E2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9834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 Learning Coach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37560" y="498348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5F4FC"/>
          </a:solidFill>
          <a:ln w="12700">
            <a:solidFill>
              <a:srgbClr val="E4E2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49834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Certificate Verification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26480" y="498348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5F4FC"/>
          </a:solidFill>
          <a:ln w="12700">
            <a:solidFill>
              <a:srgbClr val="E4E2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49834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Invalid Token / Security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915400" y="498348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5F4FC"/>
          </a:solidFill>
          <a:ln w="12700">
            <a:solidFill>
              <a:srgbClr val="E4E2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52560" y="49834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Integration &amp; E2E Flows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QuizSphere  |  AI-Powered Adaptive Learning Platform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4114800" cy="4114800"/>
          </a:xfrm>
          <a:prstGeom prst="ellipse">
            <a:avLst/>
          </a:prstGeom>
          <a:solidFill>
            <a:srgbClr val="4F46E5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EEB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72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Bringing AI, Adaptivity &amp; Analytics Together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QuizSphere provides an integrated AI-powered learning environment combining AI, Adaptive Learning, Analytics and Gamification.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201168" cy="201168"/>
          </a:xfrm>
          <a:prstGeom prst="ellipse">
            <a:avLst/>
          </a:prstGeom>
          <a:solidFill>
            <a:srgbClr val="2A266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151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2560320"/>
            <a:ext cx="5056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2633472"/>
            <a:ext cx="201168" cy="201168"/>
          </a:xfrm>
          <a:prstGeom prst="ellipse">
            <a:avLst/>
          </a:prstGeom>
          <a:solidFill>
            <a:srgbClr val="2A2660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26151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64808" y="2560320"/>
            <a:ext cx="5056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advanced learner modeling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273552"/>
            <a:ext cx="201168" cy="201168"/>
          </a:xfrm>
          <a:prstGeom prst="ellipse">
            <a:avLst/>
          </a:prstGeom>
          <a:solidFill>
            <a:srgbClr val="2A266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552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3200400"/>
            <a:ext cx="5056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AI models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3273552"/>
            <a:ext cx="201168" cy="201168"/>
          </a:xfrm>
          <a:prstGeom prst="ellipse">
            <a:avLst/>
          </a:prstGeom>
          <a:solidFill>
            <a:srgbClr val="2A2660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32552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64808" y="3200400"/>
            <a:ext cx="5056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collaborative quizzes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913632"/>
            <a:ext cx="201168" cy="201168"/>
          </a:xfrm>
          <a:prstGeom prst="ellipse">
            <a:avLst/>
          </a:prstGeom>
          <a:solidFill>
            <a:srgbClr val="2A266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8953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" y="3840480"/>
            <a:ext cx="5056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/ instructor dashboard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3913632"/>
            <a:ext cx="201168" cy="201168"/>
          </a:xfrm>
          <a:prstGeom prst="ellipse">
            <a:avLst/>
          </a:prstGeom>
          <a:solidFill>
            <a:srgbClr val="2A2660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38953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64808" y="3840480"/>
            <a:ext cx="5056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recommendation engine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553712"/>
            <a:ext cx="201168" cy="201168"/>
          </a:xfrm>
          <a:prstGeom prst="ellipse">
            <a:avLst/>
          </a:prstGeom>
          <a:solidFill>
            <a:srgbClr val="2A2660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5354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" y="4480560"/>
            <a:ext cx="5056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deployment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72200" y="4553712"/>
            <a:ext cx="201168" cy="201168"/>
          </a:xfrm>
          <a:prstGeom prst="ellipse">
            <a:avLst/>
          </a:prstGeom>
          <a:solidFill>
            <a:srgbClr val="2A2660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45354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64808" y="4480560"/>
            <a:ext cx="5056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learning support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5349240"/>
            <a:ext cx="11064240" cy="0"/>
          </a:xfrm>
          <a:prstGeom prst="line">
            <a:avLst/>
          </a:prstGeom>
          <a:noFill/>
          <a:ln w="12700">
            <a:solidFill>
              <a:srgbClr val="322D6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46120" y="556869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3337560" y="6126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C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QuizSphere  |  AI-Powered Adaptive Learning Platform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1573</Words>
  <Application>Microsoft Office PowerPoint</Application>
  <PresentationFormat>Widescreen</PresentationFormat>
  <Paragraphs>374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HIZB ULLAH</cp:lastModifiedBy>
  <cp:revision>5</cp:revision>
  <dcterms:created xsi:type="dcterms:W3CDTF">2026-09-06T12:21:38Z</dcterms:created>
  <dcterms:modified xsi:type="dcterms:W3CDTF">2026-09-06T12:37:19Z</dcterms:modified>
</cp:coreProperties>
</file>